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for tonight: three facts carry the story — the matched training sweep is complete and clean, Nemotron is the likely candidate on currently verified evidence, and the remaining Milestone 2 work is gated evaluation engineering, not exploration. The UI/RAG phase answers the deployment question directly.</a:t>
            </a:r>
          </a:p>
          <a:p/>
          <a:p>
            <a:r>
              <a:t>Evidence: presentations/2026-10-01 deck; .hermes/plans/2026-10-14-milestone2-final-five-step-execution.md; quota_pause_after_quality_PASS_20261015.json</a:t>
            </a:r>
          </a:p>
          <a:p>
            <a:r>
              <a:t>Snapshot: October 15, 2026, 3:34 PM CDT. Status statements reflect verified local artifacts and review records; no final evaluation outputs exist yet. Slides prepared with AI assistance from recorded artifacts; student review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alignment: Milestone 2 scope is the protected evaluation of the selected adapter against its base under sealed conditions (five-step plan of Oct 14). Retrieval-system construction is explicitly a post-Milestone-2 phase because the UI/RAG stack must exist before its comparison arms can run. Log 2 was updated with the user-supplied 20 personal hours.</a:t>
            </a:r>
          </a:p>
          <a:p/>
          <a:p>
            <a:r>
              <a:t>Evidence: five-step plan; user_decisions.json 2026-10-14; todo ledger revision 27; class_package_20261014</a:t>
            </a:r>
          </a:p>
          <a:p>
            <a:r>
              <a:t>Snapshot: October 15, 2026, 3:34 PM CDT. Status statements reflect verified local artifacts and review records; no final evaluation outputs exist yet. Slides prepared with AI assistance from recorded artifacts; student review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from the verified Oct 1 training snapshot (artifacts/model_comparison/2026-09-25). Nemotron N=1,600: best validation loss 0.5527 at step 400, best validation accuracy 0.8556, final step 1,200. Validation used the same 124 question IDs in every run; per-run records show test_rows_used=0 and control_rows_used=0. The highlighted row marks the current candidate, not a scored win.</a:t>
            </a:r>
          </a:p>
          <a:p/>
          <a:p>
            <a:r>
              <a:t>Evidence: presentations/2026-10-01/training_snapshot.json; clean-runs training_summary.json; results.jsonl</a:t>
            </a:r>
          </a:p>
          <a:p>
            <a:r>
              <a:t>Snapshot: October 15, 2026, 3:34 PM CDT. Status statements reflect verified local artifacts and review records; no final evaluation outputs exist yet. Slides prepared with AI assistance from recorded artifacts; student review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Reason 1: best validation loss 0.5527 is the minimum across all 16 snapshot runs (next lowest: Nemotron N=750 at 0.5574; Gemma N1600 0.5750). Reason 2: the clean-runs tree shows all four Nemotron sizes complete with saved adapters. Reason 3: runtime_seconds 4,984 for Nemotron N1600 vs 9,026 for Ornith N1600 in the same harness; A3B MoE suits local serving. Boundary language matches Milestone 1 v4: within-family token diagnostics are not cross-family factual rankings.</a:t>
            </a:r>
          </a:p>
          <a:p/>
          <a:p>
            <a:r>
              <a:t>Evidence: training_snapshot.json; architecture-training-gates/clean-runs/nemotron-*-clean-20261001-a; user_decisions.json; five-step plan line 15</a:t>
            </a:r>
          </a:p>
          <a:p>
            <a:r>
              <a:t>Snapshot: October 15, 2026, 3:34 PM CDT. Status statements reflect verified local artifacts and review records; no final evaluation outputs exist yet. Slides prepared with AI assistance from recorded artifacts; student review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trail: freshbench_spec reviews and the Oct 15 engineering pass under artifacts/milestone2_completion (engineering_pass_20261015); test counts verified by counting test functions in the owned trees (106 and 44). Source audit: 12 v2 snapshots + 3 v1 matched verified-TLS redownloads; 417 page packets independently reproduced; proposed cohort carries 6 strict post-publication alerts and 2 posting-inferred high-overlap chapters pending final cohort check. Log 2 and public docs per todo ledger (m2-log-hours completed).</a:t>
            </a:r>
          </a:p>
          <a:p/>
          <a:p>
            <a:r>
              <a:t>Evidence: engineering_pass_20261015/*; reviews_20261014/*; fresh_sources_v2_20261014; todo revision 27; public repo docs</a:t>
            </a:r>
          </a:p>
          <a:p>
            <a:r>
              <a:t>Snapshot: October 15, 2026, 3:34 PM CDT. Status statements reflect verified local artifacts and review records; no final evaluation outputs exist yet. Slides prepared with AI assistance from recorded artifacts; student review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from the verified pause record (quota_pause_after_quality_PASS_20261015.json): engineering_release_complete=false; real offline transition not executed; actual authoring or campaign not started; next_required steps match the five gates shown (identity-store upgrade + real-tree tests, seal, one-time campaign, scoring/adjudication, personal review + publish). Session window resets 4:23 PM CDT.</a:t>
            </a:r>
          </a:p>
          <a:p/>
          <a:p>
            <a:r>
              <a:t>Evidence: quota_pause_after_quality_PASS_20261015.json; five-step plan Steps 1–5; model_phase_handoff_contract_20261015.json</a:t>
            </a:r>
          </a:p>
          <a:p>
            <a:r>
              <a:t>Snapshot: October 15, 2026, 3:34 PM CDT. Status statements reflect verified local artifacts and review records; no final evaluation outputs exist yet. Slides prepared with AI assistance from recorded artifacts; student review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Sequencing rationale: the RAG stack cannot be evaluated until it exists, so Milestone 2 seals the training-vs-base comparison first; the UI/RAG phase then extends the same frozen cohort to four arms (user clarification of Oct 14 records input mode for the M2 run; the four-arm grid is the deployment-phase comparison). Corpus paths follow the Milestone 1 source inventory and the Oct 14 authenticated source cohort.</a:t>
            </a:r>
          </a:p>
          <a:p/>
          <a:p>
            <a:r>
              <a:t>Evidence: five-step plan; user_decisions.json; fact record on UI/RAG ordering; Milestone 1 v3/v4 source inventory</a:t>
            </a:r>
          </a:p>
          <a:p>
            <a:r>
              <a:t>Snapshot: October 15, 2026, 3:34 PM CDT. Status statements reflect verified local artifacts and review records; no final evaluation outputs exist yet. Slides prepared with AI assistance from recorded artifacts; student review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frame: the program now produces verified artifacts rather than promises — every claim on this slide traces to a run record, review report, or review-passed tool. Milestone 2 completes when the gates run in order; the UI/RAG phase then turns the research into the deployed comparison.</a:t>
            </a:r>
          </a:p>
          <a:p/>
          <a:p>
            <a:r>
              <a:t>Evidence: training_snapshot.json; engineering_pass_20261015; five-step plan; both GitHub repositories as pushed Oct 15</a:t>
            </a:r>
          </a:p>
          <a:p>
            <a:r>
              <a:t>Snapshot: October 15, 2026, 3:34 PM CDT. Status statements reflect verified local artifacts and review records; no final evaluation outputs exist yet. Slides prepared with AI assistance from recorded artifacts; student review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2528B"/>
                </a:solidFill>
                <a:latin typeface="Aptos"/>
              </a:defRPr>
            </a:pPr>
            <a:r>
              <a:t>MILESTONE 2 PROGRESS BRIEFING  ·  FALL 2026 CAPSTONE,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09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AUtoMLy — Alabama Medicaid Policy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099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Milestone 2 status: model selection is converging, protected final evaluation is staged, and the UI/RAG phase is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73368"/>
            <a:ext cx="11183112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652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26176"/>
                </a:solidFill>
                <a:latin typeface="Aptos"/>
              </a:defRPr>
            </a:pPr>
            <a:r>
              <a:t>J.O.  |  INAI 6986  |  Oct 15, 2026 · 3:34 PM CDT  |  Status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2528B"/>
                </a:solidFill>
                <a:latin typeface="Aptos"/>
              </a:defRPr>
            </a:pPr>
            <a:r>
              <a:t>01</a:t>
            </a:r>
          </a:p>
        </p:txBody>
      </p:sp>
      <p:pic>
        <p:nvPicPr>
          <p:cNvPr id="9" name="Picture 8" descr="alabama_medicaid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28600"/>
            <a:ext cx="429768" cy="4297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2048256"/>
            <a:ext cx="11183112" cy="1225296"/>
          </a:xfrm>
          <a:prstGeom prst="roundRect">
            <a:avLst>
              <a:gd name="adj" fmla="val 8000"/>
            </a:avLst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12848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Likely model candidate: NVIDIA Nemotron 3.5 Lightning 30B-A3B</a:t>
            </a:r>
          </a:p>
          <a:p>
            <a:pPr algn="l">
              <a:spcAft>
                <a:spcPts val="5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LoRA checkpoint 400 — selection is confirmed only by the</a:t>
            </a:r>
          </a:p>
          <a:p>
            <a:pPr algn="l">
              <a:spcAft>
                <a:spcPts val="5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one-time protected final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50292" cy="219456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75887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2528B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60520"/>
            <a:ext cx="315467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6243A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65192"/>
            <a:ext cx="31546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Data &amp; model selection; v4 published and resubmission delivered.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4747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3474720"/>
            <a:ext cx="50292" cy="219456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675887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2528B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160520"/>
            <a:ext cx="315467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965192"/>
            <a:ext cx="31546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Benchmark tooling passed independent review today; frozen final run is gated, not yet executed.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3474720"/>
            <a:ext cx="3557016" cy="21945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9016" y="3474720"/>
            <a:ext cx="50292" cy="219456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3675887"/>
            <a:ext cx="31455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2528B"/>
                </a:solidFill>
                <a:latin typeface="Aptos"/>
              </a:defRPr>
            </a:pPr>
            <a:r>
              <a:t>NEXT PHASE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4160520"/>
            <a:ext cx="3145536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UI +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4965192"/>
            <a:ext cx="31455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Open WebUI retrieval over Medicaid policy; four-way comparison across training and retrieval.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2528B"/>
                </a:solidFill>
                <a:latin typeface="Aptos"/>
              </a:defRPr>
            </a:pPr>
            <a:r>
              <a:t>PROJECT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09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Where We Are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099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Three-phase plan: choose data and models, prove the trained model against its base, then build and compare the deployed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73368"/>
            <a:ext cx="11183112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652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26176"/>
                </a:solidFill>
                <a:latin typeface="Aptos"/>
              </a:defRPr>
            </a:pPr>
            <a:r>
              <a:t>J.O.  |  INAI 6986  |  Oct 15, 2026 · 3:34 PM CDT  |  Roadmap · verified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252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83664"/>
            <a:ext cx="2377440" cy="896112"/>
          </a:xfrm>
          <a:prstGeom prst="roundRect">
            <a:avLst>
              <a:gd name="adj" fmla="val 8000"/>
            </a:avLst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D6CA8F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901952"/>
            <a:ext cx="8503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Data pipeline and four-family model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249424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Resubmission and v4 delivered; the student-authored 30-question control set is preserved as fixed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82112"/>
            <a:ext cx="2377440" cy="896112"/>
          </a:xfrm>
          <a:prstGeom prst="roundRect">
            <a:avLst>
              <a:gd name="adj" fmla="val 8000"/>
            </a:avLst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2841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39312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D6CA8F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200400"/>
            <a:ext cx="8503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Nemotron checkpoint-400 vs its untouched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547872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Identical official-source passages and questions; tooling independently reviewed today; final campaign not yet executed.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80560"/>
            <a:ext cx="2377440" cy="896112"/>
          </a:xfrm>
          <a:prstGeom prst="roundRect">
            <a:avLst>
              <a:gd name="adj" fmla="val 8000"/>
            </a:avLst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2686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UI / RAG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D6CA8F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498848"/>
            <a:ext cx="8503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Open WebUI + ChromaDB over Medicaid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846320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Then the four-way comparison: base, trained, base+RAG, trained+RAG — one frozen benchmark, one rubric.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815584"/>
            <a:ext cx="11183112" cy="521207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815584"/>
            <a:ext cx="50292" cy="521207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934456"/>
            <a:ext cx="10817352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2528B"/>
                </a:solidFill>
                <a:latin typeface="Aptos"/>
              </a:defRPr>
            </a:pPr>
            <a:r>
              <a:t>Tonight: what is done, why Nemotron is the likely pick, and what comes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2528B"/>
                </a:solidFill>
                <a:latin typeface="Aptos"/>
              </a:defRPr>
            </a:pPr>
            <a:r>
              <a:t>MILESTONE 1 CARRY-OVER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09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The Training Program Is Complete and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099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Sixteen matched runs — four model families × four data sizes — on fixed cohorts; identical validation IDs; protected rows untouched.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73368"/>
            <a:ext cx="11183112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652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26176"/>
                </a:solidFill>
                <a:latin typeface="Aptos"/>
              </a:defRPr>
            </a:pPr>
            <a:r>
              <a:t>J.O.  |  INAI 6986  |  Oct 15, 2026 · 3:34 PM CDT  |  training_snapshot.json · run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252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0292" cy="201168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75688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2528B"/>
                </a:solidFill>
                <a:latin typeface="Aptos"/>
              </a:defRPr>
            </a:pPr>
            <a:r>
              <a:t>COMPLETED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60320"/>
            <a:ext cx="315467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6243A"/>
                </a:solidFill>
                <a:latin typeface="Aptos"/>
              </a:defRPr>
            </a:pPr>
            <a:r>
              <a:t>16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64991"/>
            <a:ext cx="31546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All matched cohorts complete as of the Oct 1 clean sweep.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874519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874519"/>
            <a:ext cx="50292" cy="201168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075688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2528B"/>
                </a:solidFill>
                <a:latin typeface="Aptos"/>
              </a:defRPr>
            </a:pPr>
            <a:r>
              <a:t>POLICY 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60320"/>
            <a:ext cx="315467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200 – 1,600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64991"/>
            <a:ext cx="31546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Nested train sizes; identical prompt-ID hashes at each size.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1874519"/>
            <a:ext cx="3557016" cy="20116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9016" y="1874519"/>
            <a:ext cx="50292" cy="201168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2075688"/>
            <a:ext cx="31455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2528B"/>
                </a:solidFill>
                <a:latin typeface="Aptos"/>
              </a:defRPr>
            </a:pPr>
            <a:r>
              <a:t>PROTECTED ROWS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560320"/>
            <a:ext cx="3145536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6243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364991"/>
            <a:ext cx="31455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No test or student-control rows touched in any run.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4160520"/>
          <a:ext cx="1118311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6712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 = 1,600 RUN</a:t>
                      </a:r>
                    </a:p>
                  </a:txBody>
                  <a:tcPr marL="91440" marR="73152" marT="36576" marB="18288" anchor="ctr">
                    <a:solidFill>
                      <a:srgbClr val="32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Best val loss</a:t>
                      </a:r>
                    </a:p>
                  </a:txBody>
                  <a:tcPr marL="91440" marR="73152" marT="36576" marB="18288" anchor="ctr">
                    <a:solidFill>
                      <a:srgbClr val="32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Best val accuracy</a:t>
                      </a:r>
                    </a:p>
                  </a:txBody>
                  <a:tcPr marL="91440" marR="73152" marT="36576" marB="18288" anchor="ctr">
                    <a:solidFill>
                      <a:srgbClr val="32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Selected checkpoint</a:t>
                      </a:r>
                    </a:p>
                  </a:txBody>
                  <a:tcPr marL="91440" marR="73152" marT="36576" marB="18288" anchor="ctr">
                    <a:solidFill>
                      <a:srgbClr val="32528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Gemma 4 26B-A4B</a:t>
                      </a:r>
                    </a:p>
                  </a:txBody>
                  <a:tcPr marL="91440" marR="73152" marT="36576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0.5750</a:t>
                      </a:r>
                    </a:p>
                  </a:txBody>
                  <a:tcPr marL="91440" marR="73152" marT="36576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85.88%</a:t>
                      </a:r>
                    </a:p>
                  </a:txBody>
                  <a:tcPr marL="91440" marR="73152" marT="36576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step 400</a:t>
                      </a:r>
                    </a:p>
                  </a:txBody>
                  <a:tcPr marL="91440" marR="73152" marT="36576" marB="18288" anchor="ctr">
                    <a:solidFill>
                      <a:srgbClr val="F3F5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Muse Glimmer 30B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0.5787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85.54%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step 200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Nemotron 3.5 Lightning 30B-A3B</a:t>
                      </a:r>
                    </a:p>
                  </a:txBody>
                  <a:tcPr marL="91440" marR="73152" marT="36576" marB="18288" anchor="ctr">
                    <a:solidFill>
                      <a:srgbClr val="D6C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0.5527</a:t>
                      </a:r>
                    </a:p>
                  </a:txBody>
                  <a:tcPr marL="91440" marR="73152" marT="36576" marB="18288" anchor="ctr">
                    <a:solidFill>
                      <a:srgbClr val="D6C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85.56%</a:t>
                      </a:r>
                    </a:p>
                  </a:txBody>
                  <a:tcPr marL="91440" marR="73152" marT="36576" marB="18288" anchor="ctr">
                    <a:solidFill>
                      <a:srgbClr val="D6C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step 400</a:t>
                      </a:r>
                    </a:p>
                  </a:txBody>
                  <a:tcPr marL="91440" marR="73152" marT="36576" marB="18288" anchor="ctr">
                    <a:solidFill>
                      <a:srgbClr val="D6CA8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Ornith 1.5 35B-A3B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0.5626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85.38%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step 400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2920" y="5815584"/>
            <a:ext cx="111831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6176"/>
                </a:solidFill>
                <a:latin typeface="Aptos"/>
              </a:defRPr>
            </a:pPr>
            <a:r>
              <a:t>Token loss is a within-family next-token diagnostic — different tokenizers prevent a cross-family accuracy ranking. It motivates the candidate; it does not crown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2528B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09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Nemotron Is the Likely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099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Three verified reasons — plus one honest boundary on what the current evidence can and cannot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73368"/>
            <a:ext cx="11183112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652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26176"/>
                </a:solidFill>
                <a:latin typeface="Aptos"/>
              </a:defRPr>
            </a:pPr>
            <a:r>
              <a:t>J.O.  |  INAI 6986  |  Oct 15, 2026 · 3:34 PM CDT  |  run records · protocol · user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252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566160" cy="28346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0292" cy="283464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75688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2528B"/>
                </a:solidFill>
                <a:latin typeface="Aptos"/>
              </a:defRPr>
            </a:pPr>
            <a:r>
              <a:t>BEST VAL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60320"/>
            <a:ext cx="315467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0.5527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64991"/>
            <a:ext cx="31546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Lowest best-validation loss across all sixteen matched runs; checkpoint 400 at N=1,600.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874519"/>
            <a:ext cx="3566160" cy="28346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874519"/>
            <a:ext cx="50292" cy="283464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075688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2528B"/>
                </a:solidFill>
                <a:latin typeface="Aptos"/>
              </a:defRPr>
            </a:pPr>
            <a:r>
              <a:t>CLEAN LOCAL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60320"/>
            <a:ext cx="315467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64991"/>
            <a:ext cx="31546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All four data sizes completed on lab hardware with rank-16 LoRA after the Oct 1 correction.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1874519"/>
            <a:ext cx="3557016" cy="28346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9016" y="1874519"/>
            <a:ext cx="50292" cy="283464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2075688"/>
            <a:ext cx="31455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2528B"/>
                </a:solidFill>
                <a:latin typeface="Aptos"/>
              </a:defRPr>
            </a:pPr>
            <a:r>
              <a:t>BUILT TO 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560320"/>
            <a:ext cx="3145536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243A"/>
                </a:solidFill>
                <a:latin typeface="Aptos"/>
              </a:defRPr>
            </a:pPr>
            <a:r>
              <a:t>3B 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364991"/>
            <a:ext cx="31455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30B MoE with 3B active parameters; N=1,600 sweep ran in ~1.4 h vs ~2.5 h for the other MoE family.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28032"/>
            <a:ext cx="11183112" cy="896112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828032"/>
            <a:ext cx="50292" cy="896112"/>
          </a:xfrm>
          <a:prstGeom prst="rect">
            <a:avLst/>
          </a:prstGeom>
          <a:solidFill>
            <a:srgbClr val="D6C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93776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50" b="0">
                <a:solidFill>
                  <a:srgbClr val="16243A"/>
                </a:solidFill>
                <a:latin typeface="Aptos"/>
              </a:defRPr>
            </a:pPr>
            <a:r>
              <a:t>Decision status: the Milestone 2 protocol and recorded user decision designate Nemotron N1600 (revision a9904d2, adapter SHA-256 4aaca5c5…) as the candidate.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16243A"/>
                </a:solidFill>
                <a:latin typeface="Aptos"/>
              </a:defRPr>
            </a:pPr>
            <a:r>
              <a:t>Formal selection happens only when the sealed, one-time final evaluation passes — no winner from token loss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2528B"/>
                </a:solidFill>
                <a:latin typeface="Aptos"/>
              </a:defRPr>
            </a:pPr>
            <a:r>
              <a:t>MILESTONE 2 ·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09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Evaluation Machinery Under Independent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099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What Milestone 2 has produced so far — reviewed engineering, authenticated sources, and updated program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73368"/>
            <a:ext cx="11183112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652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26176"/>
                </a:solidFill>
                <a:latin typeface="Aptos"/>
              </a:defRPr>
            </a:pPr>
            <a:r>
              <a:t>J.O.  |  INAI 6986  |  Oct 15, 2026 · 3:34 PM CDT  |  review records · source audit · Log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252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177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0652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56231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Benchmark authoring tools repaired and passed independent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Answerable-set tool (106 tests) and unanswerable-set tool (44 tests): independent SPEC review, then quality review — both PASS as of today, Oct 15.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70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177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02052"/>
            <a:ext cx="237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517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Final collection and scoring harness reviewed under synthetic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9008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Paired candidate/base collector with sealed-asset checks; passed independent review on synthetic probes only — no real inference run yet.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6557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177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9758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4728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Fresh benchmark sourced from authenticated official 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85615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12 post-snapshot source snapshots re-hashed; 417 audited page packets; proposed 8-source / 28-page cohort with 6 strict post-publication date alerts.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6110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177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9310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42816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Strata designed for how policy questions actually 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8114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Policy reasoning · effective dates · exceptions · conflicts · synthesis · unanswerable items that should trigger abstention.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5663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177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88636"/>
            <a:ext cx="237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38344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Program records updated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7667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Progress Log 2 revised (20 personal hours); Milestone 1 v4 and the Milestone 2 development report published to the public repository.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852160"/>
            <a:ext cx="50292" cy="457200"/>
          </a:xfrm>
          <a:prstGeom prst="rect">
            <a:avLst/>
          </a:prstGeom>
          <a:solidFill>
            <a:srgbClr val="9B4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97103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9B4B36"/>
                </a:solidFill>
                <a:latin typeface="Aptos"/>
              </a:defRPr>
            </a:pPr>
            <a:r>
              <a:t>No final scores exist yet — tonight reports capability built, not model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2528B"/>
                </a:solidFill>
                <a:latin typeface="Aptos"/>
              </a:defRPr>
            </a:pPr>
            <a:r>
              <a:t>MILESTONE 2 · IN FLIGHT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09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Paused at the Right Place — Five Gates Remain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099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Work stops after each gate passes. The pause today was a session-quota boundary, not a blocker in the science.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73368"/>
            <a:ext cx="11183112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652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26176"/>
                </a:solidFill>
                <a:latin typeface="Aptos"/>
              </a:defRPr>
            </a:pPr>
            <a:r>
              <a:t>J.O.  |  INAI 6986  |  Oct 15, 2026 · 3:34 PM CDT  |  five-step plan · checkpoint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252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548640" cy="548640"/>
          </a:xfrm>
          <a:prstGeom prst="roundRect">
            <a:avLst>
              <a:gd name="adj" fmla="val 8000"/>
            </a:avLst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9339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1965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Integrate reviewed tooling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65376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526176"/>
                </a:solidFill>
                <a:latin typeface="Aptos"/>
              </a:defRPr>
            </a:pPr>
            <a:r>
              <a:t>Apply the reviewed identity-store upgrade; rerun real-tree tests and the source-only CLI preflight.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9806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2432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Seal the freeze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70048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526176"/>
                </a:solidFill>
                <a:latin typeface="Aptos"/>
              </a:defRPr>
            </a:pPr>
            <a:r>
              <a:t>Adapter and base bytes, benchmark/key hashes, prompts, settings, metrics, robustness protocol — one immutable manifest.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56432"/>
            <a:ext cx="548640" cy="548640"/>
          </a:xfrm>
          <a:prstGeom prst="roundRect">
            <a:avLst>
              <a:gd name="adj" fmla="val 8000"/>
            </a:avLst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0273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290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Run once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74720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526176"/>
                </a:solidFill>
                <a:latin typeface="Aptos"/>
              </a:defRPr>
            </a:pPr>
            <a:r>
              <a:t>Paired Nemotron-400 vs untouched base on identical official-source passages and questions. One time. Failures kept.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61104"/>
            <a:ext cx="548640" cy="548640"/>
          </a:xfrm>
          <a:prstGeom prst="roundRect">
            <a:avLst>
              <a:gd name="adj" fmla="val 8000"/>
            </a:avLst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0740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3367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Score honestly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79392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526176"/>
                </a:solidFill>
                <a:latin typeface="Aptos"/>
              </a:defRPr>
            </a:pPr>
            <a:r>
              <a:t>Machine advisory scoring on the full population; scoped human adjudication stays separate and is not waived.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65776"/>
            <a:ext cx="548640" cy="548640"/>
          </a:xfrm>
          <a:prstGeom prst="roundRect">
            <a:avLst>
              <a:gd name="adj" fmla="val 8000"/>
            </a:avLst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21208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03834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43A"/>
                </a:solidFill>
                <a:latin typeface="Aptos"/>
              </a:defRPr>
            </a:pPr>
            <a:r>
              <a:t>Review and 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084064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526176"/>
                </a:solidFill>
                <a:latin typeface="Aptos"/>
              </a:defRPr>
            </a:pPr>
            <a:r>
              <a:t>Personal rubric review of M2/Log 2; executed notebook; DOCX/PDF; push private and J.O.-only public repos.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852160"/>
            <a:ext cx="50292" cy="45720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97103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2528B"/>
                </a:solidFill>
                <a:latin typeface="Aptos"/>
              </a:defRPr>
            </a:pPr>
            <a:r>
              <a:t>Paused at a quota boundary — checkpoint saved; every gate must pass in order.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2528B"/>
                </a:solidFill>
                <a:latin typeface="Aptos"/>
              </a:defRPr>
            </a:pPr>
            <a:r>
              <a:t>NEXT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09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Open WebUI + RAG: The Four-Way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099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The capstone question in one grid: does policy fine-tuning, retrieval, or both actually move answer quality?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73368"/>
            <a:ext cx="11183112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652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26176"/>
                </a:solidFill>
                <a:latin typeface="Aptos"/>
              </a:defRPr>
            </a:pPr>
            <a:r>
              <a:t>J.O.  |  INAI 6986  |  Oct 15, 2026 · 3:34 PM CDT  |  protocol design · deployment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252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32528B"/>
                </a:solidFill>
                <a:latin typeface="Aptos"/>
              </a:defRPr>
            </a:pPr>
            <a:r>
              <a:t>Build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177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944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50008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43A"/>
                </a:solidFill>
                <a:latin typeface="Aptos"/>
              </a:defRPr>
            </a:pPr>
            <a:r>
              <a:t>Ingest the policy 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526176"/>
                </a:solidFill>
                <a:latin typeface="Aptos"/>
              </a:defRPr>
            </a:pPr>
            <a:r>
              <a:t>Administrative Code and Provider Billing Manual, plus audited post-snapshot sources, into ChromaDB.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177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7812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218688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43A"/>
                </a:solidFill>
                <a:latin typeface="Aptos"/>
              </a:defRPr>
            </a:pPr>
            <a:r>
              <a:t>Serve it through Open WebUI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29584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526176"/>
                </a:solidFill>
                <a:latin typeface="Aptos"/>
              </a:defRPr>
            </a:pPr>
            <a:r>
              <a:t>Citation-grounded chat over the Medicaid policy collection for staff 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177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4680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087368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43A"/>
                </a:solidFill>
                <a:latin typeface="Aptos"/>
              </a:defRPr>
            </a:pPr>
            <a:r>
              <a:t>Deploy both model conditions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398264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526176"/>
                </a:solidFill>
                <a:latin typeface="Aptos"/>
              </a:defRPr>
            </a:pPr>
            <a:r>
              <a:t>Base Nemotron and the selected checkpoint behind one local endpoint.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8347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177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15483"/>
            <a:ext cx="237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956047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43A"/>
                </a:solidFill>
                <a:latin typeface="Aptos"/>
              </a:defRPr>
            </a:pPr>
            <a:r>
              <a:t>Run the same frozen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266943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526176"/>
                </a:solidFill>
                <a:latin typeface="Aptos"/>
              </a:defRPr>
            </a:pPr>
            <a:r>
              <a:t>One cohort, one key, one scoring protocol — across four arms.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172200" y="1920240"/>
          <a:ext cx="551383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139696"/>
                <a:gridCol w="2139696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</a:p>
                  </a:txBody>
                  <a:tcPr marL="91440" marR="73152" marT="36576" marB="18288" anchor="ctr">
                    <a:solidFill>
                      <a:srgbClr val="32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MODEL</a:t>
                      </a:r>
                    </a:p>
                  </a:txBody>
                  <a:tcPr marL="91440" marR="73152" marT="36576" marB="18288" anchor="ctr">
                    <a:solidFill>
                      <a:srgbClr val="32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FINE-TUNED (CKPT 400)</a:t>
                      </a:r>
                    </a:p>
                  </a:txBody>
                  <a:tcPr marL="91440" marR="73152" marT="36576" marB="18288" anchor="ctr">
                    <a:solidFill>
                      <a:srgbClr val="32528B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No RAG</a:t>
                      </a:r>
                    </a:p>
                  </a:txBody>
                  <a:tcPr marL="91440" marR="73152" marT="36576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What comes out of the box</a:t>
                      </a:r>
                    </a:p>
                  </a:txBody>
                  <a:tcPr marL="91440" marR="73152" marT="36576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Value of training alone</a:t>
                      </a:r>
                    </a:p>
                  </a:txBody>
                  <a:tcPr marL="91440" marR="73152" marT="36576" marB="18288" anchor="ctr">
                    <a:solidFill>
                      <a:srgbClr val="F3F5F8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With RAG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Value of retrieval alone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6243A"/>
                          </a:solidFill>
                          <a:latin typeface="Aptos"/>
                        </a:defRPr>
                      </a:pPr>
                      <a:r>
                        <a:t>The combined hypothesis</a:t>
                      </a:r>
                    </a:p>
                  </a:txBody>
                  <a:tcPr marL="91440" marR="73152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172200" y="5166360"/>
            <a:ext cx="55138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6176"/>
                </a:solidFill>
                <a:latin typeface="Aptos"/>
              </a:defRPr>
            </a:pPr>
            <a:r>
              <a:t>Four arms share one frozen benchmark and one human scoring rubric — differences attribute to method, not to the test. Latency and memory are logged per arm.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852160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852160"/>
            <a:ext cx="50292" cy="457200"/>
          </a:xfrm>
          <a:prstGeom prst="rect">
            <a:avLst/>
          </a:prstGeom>
          <a:solidFill>
            <a:srgbClr val="177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97103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77D81"/>
                </a:solidFill>
                <a:latin typeface="Aptos"/>
              </a:defRPr>
            </a:pPr>
            <a:r>
              <a:t>One sealed benchmark serves all four arms — so the RAG phase follows this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2528B"/>
                </a:solidFill>
                <a:latin typeface="Aptos"/>
              </a:defRPr>
            </a:pPr>
            <a: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09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6243A"/>
                </a:solidFill>
                <a:latin typeface="Aptos"/>
              </a:defRPr>
            </a:pPr>
            <a:r>
              <a:t>Three Things to Take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111099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26176"/>
                </a:solidFill>
                <a:latin typeface="Aptos"/>
              </a:defRPr>
            </a:pPr>
            <a:r>
              <a:t>No performance claims tonight — the claims are about readiness, discipline, and what happens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73368"/>
            <a:ext cx="11183112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652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26176"/>
                </a:solidFill>
                <a:latin typeface="Aptos"/>
              </a:defRPr>
            </a:pPr>
            <a:r>
              <a:t>J.O.  |  INAI 6986  |  Oct 15, 2026 · 3:34 PM CDT  |  all slides · repos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252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83664"/>
            <a:ext cx="50292" cy="100584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10835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6243A"/>
                </a:solidFill>
                <a:latin typeface="Aptos"/>
              </a:defRPr>
            </a:pPr>
            <a:r>
              <a:t>1. The experiment loop is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04288"/>
            <a:ext cx="10835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50" b="0">
                <a:solidFill>
                  <a:srgbClr val="526176"/>
                </a:solidFill>
                <a:latin typeface="Aptos"/>
              </a:defRPr>
            </a:pPr>
            <a:r>
              <a:t>Sixteen matched training runs, fixed cohorts, protected rows untouched, and an auditable evidence chain from run records to this slide.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27248"/>
            <a:ext cx="50292" cy="100584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10835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6243A"/>
                </a:solidFill>
                <a:latin typeface="Aptos"/>
              </a:defRPr>
            </a:pPr>
            <a:r>
              <a:t>2. Nemotron is the likely choice — and it knows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10835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50" b="0">
                <a:solidFill>
                  <a:srgbClr val="526176"/>
                </a:solidFill>
                <a:latin typeface="Aptos"/>
              </a:defRPr>
            </a:pPr>
            <a:r>
              <a:t>Best validation loss in the sweep, a verified clean training path, and a serving-friendly MoE. The sealed one-time evaluation is the last gate before formal selection.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370832"/>
            <a:ext cx="50292" cy="1005840"/>
          </a:xfrm>
          <a:prstGeom prst="rect">
            <a:avLst/>
          </a:prstGeom>
          <a:solidFill>
            <a:srgbClr val="32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10835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6243A"/>
                </a:solidFill>
                <a:latin typeface="Aptos"/>
              </a:defRPr>
            </a:pPr>
            <a:r>
              <a:t>3. The next build answers the deployment question.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91456"/>
            <a:ext cx="10835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50" b="0">
                <a:solidFill>
                  <a:srgbClr val="526176"/>
                </a:solidFill>
                <a:latin typeface="Aptos"/>
              </a:defRPr>
            </a:pPr>
            <a:r>
              <a:t>Open WebUI + ChromaDB over Medicaid policy, then base vs trained vs +RAG vs both — one frozen benchmark, one rubric, four arms.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669280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669280"/>
            <a:ext cx="50292" cy="566928"/>
          </a:xfrm>
          <a:prstGeom prst="rect">
            <a:avLst/>
          </a:prstGeom>
          <a:solidFill>
            <a:srgbClr val="D6C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769864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32528B"/>
                </a:solidFill>
                <a:latin typeface="Aptos"/>
              </a:defRPr>
            </a:pPr>
            <a:r>
              <a:t>Evidence: github.com/porespellar/INAI6986 (private · full engineering trail)   ·   github.com/porespellar/INAI6986_project_deliverables (public · J.O. deliverables + this deck)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AUtoMLy — Alabama Medicaid Policy Copilot | Milestone 2 Progress</dc:title>
  <dc:subject>Capstone Milestone 2 status briefing | October 15, 2026</dc:subject>
  <dc:creator>J.O.</dc:creator>
  <cp:keywords>INAI 6986; Milestone 2; Nemotron; RAG; Open WebUI; Medicaid policy</cp:keywords>
  <dc:description>Prepared with AI assistance from verified artifacts. Student review required.</dc:description>
  <cp:lastModifiedBy>J.O.</cp:lastModifiedBy>
  <cp:revision>1</cp:revision>
  <dcterms:created xsi:type="dcterms:W3CDTF">2013-01-27T09:14:16Z</dcterms:created>
  <dcterms:modified xsi:type="dcterms:W3CDTF">2013-01-27T09:15:58Z</dcterms:modified>
  <cp:category/>
</cp:coreProperties>
</file>